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Submissions</c:v>
                </c:pt>
              </c:strCache>
            </c:strRef>
          </c:tx>
          <c:spPr>
            <a:solidFill>
              <a:srgbClr val="D32F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India</c:v>
                  </c:pt>
                  <c:pt idx="1">
                    <c:v>USA</c:v>
                  </c:pt>
                  <c:pt idx="2">
                    <c:v>Brazil</c:v>
                  </c:pt>
                  <c:pt idx="3">
                    <c:v>Canada</c:v>
                  </c:pt>
                  <c:pt idx="4">
                    <c:v>Austria</c:v>
                  </c:pt>
                  <c:pt idx="5">
                    <c:v>Australia</c:v>
                  </c:pt>
                  <c:pt idx="6">
                    <c:v>Israel</c:v>
                  </c:pt>
                  <c:pt idx="7">
                    <c:v>Italy</c:v>
                  </c:pt>
                  <c:pt idx="8">
                    <c:v>Russia</c:v>
                  </c:pt>
                  <c:pt idx="9">
                    <c:v>France</c:v>
                  </c:pt>
                  <c:pt idx="10">
                    <c:v>Iran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75.2</c:v>
                </c:pt>
                <c:pt idx="1">
                  <c:v>5.5</c:v>
                </c:pt>
                <c:pt idx="2">
                  <c:v>2</c:v>
                </c:pt>
                <c:pt idx="3">
                  <c:v>1.8</c:v>
                </c:pt>
                <c:pt idx="4">
                  <c:v>1.2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0.7</c:v>
                </c:pt>
                <c:pt idx="10">
                  <c:v>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Accepted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India</c:v>
                  </c:pt>
                  <c:pt idx="1">
                    <c:v>USA</c:v>
                  </c:pt>
                  <c:pt idx="2">
                    <c:v>Brazil</c:v>
                  </c:pt>
                  <c:pt idx="3">
                    <c:v>Canada</c:v>
                  </c:pt>
                  <c:pt idx="4">
                    <c:v>Austria</c:v>
                  </c:pt>
                  <c:pt idx="5">
                    <c:v>Australia</c:v>
                  </c:pt>
                  <c:pt idx="6">
                    <c:v>Israel</c:v>
                  </c:pt>
                  <c:pt idx="7">
                    <c:v>Italy</c:v>
                  </c:pt>
                  <c:pt idx="8">
                    <c:v>Russia</c:v>
                  </c:pt>
                  <c:pt idx="9">
                    <c:v>France</c:v>
                  </c:pt>
                  <c:pt idx="10">
                    <c:v>Iran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24.9</c:v>
                </c:pt>
                <c:pt idx="1">
                  <c:v>2</c:v>
                </c:pt>
                <c:pt idx="2">
                  <c:v>2</c:v>
                </c:pt>
                <c:pt idx="3">
                  <c:v>1.5</c:v>
                </c:pt>
                <c:pt idx="4">
                  <c:v>1.2</c:v>
                </c:pt>
                <c:pt idx="5">
                  <c:v>0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  <c:pt idx="9">
                  <c:v>0.7</c:v>
                </c:pt>
                <c:pt idx="10">
                  <c:v>0.5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D2D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Submissions</c:v>
                </c:pt>
              </c:strCache>
            </c:strRef>
          </c:tx>
          <c:spPr>
            <a:solidFill>
              <a:srgbClr val="006D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Sheet1!$A$2:$A$28</c:f>
              <c:multiLvlStrCache>
                <c:ptCount val="27"/>
                <c:lvl>
                  <c:pt idx="0">
                    <c:v>Jun 9</c:v>
                  </c:pt>
                  <c:pt idx="1">
                    <c:v>Jun 30</c:v>
                  </c:pt>
                  <c:pt idx="2">
                    <c:v>Aug 8</c:v>
                  </c:pt>
                  <c:pt idx="3">
                    <c:v>Aug 30</c:v>
                  </c:pt>
                  <c:pt idx="4">
                    <c:v>Aug 31</c:v>
                  </c:pt>
                  <c:pt idx="5">
                    <c:v>Sep 2</c:v>
                  </c:pt>
                  <c:pt idx="6">
                    <c:v>Sep 3</c:v>
                  </c:pt>
                  <c:pt idx="7">
                    <c:v>Sep 6</c:v>
                  </c:pt>
                  <c:pt idx="8">
                    <c:v>Sep 7</c:v>
                  </c:pt>
                  <c:pt idx="9">
                    <c:v>Sep 8</c:v>
                  </c:pt>
                  <c:pt idx="10">
                    <c:v>Sep 9</c:v>
                  </c:pt>
                  <c:pt idx="11">
                    <c:v>Sep 13</c:v>
                  </c:pt>
                  <c:pt idx="12">
                    <c:v>Sep 15</c:v>
                  </c:pt>
                  <c:pt idx="13">
                    <c:v>Sep 16</c:v>
                  </c:pt>
                  <c:pt idx="14">
                    <c:v>Sep 17</c:v>
                  </c:pt>
                  <c:pt idx="15">
                    <c:v>Sep 19</c:v>
                  </c:pt>
                  <c:pt idx="16">
                    <c:v>Sep 20</c:v>
                  </c:pt>
                  <c:pt idx="17">
                    <c:v>Sep 21</c:v>
                  </c:pt>
                  <c:pt idx="18">
                    <c:v>Sep 22</c:v>
                  </c:pt>
                  <c:pt idx="19">
                    <c:v>Sep 23</c:v>
                  </c:pt>
                  <c:pt idx="20">
                    <c:v>Sep 24</c:v>
                  </c:pt>
                  <c:pt idx="21">
                    <c:v>Sep 25</c:v>
                  </c:pt>
                  <c:pt idx="22">
                    <c:v>Sep 26</c:v>
                  </c:pt>
                  <c:pt idx="23">
                    <c:v>Sep 28</c:v>
                  </c:pt>
                  <c:pt idx="24">
                    <c:v>Sep 29</c:v>
                  </c:pt>
                  <c:pt idx="25">
                    <c:v>Sep 30</c:v>
                  </c:pt>
                  <c:pt idx="26">
                    <c:v>Oct 1</c:v>
                  </c:pt>
                </c:lvl>
              </c:multiLvlStrCache>
            </c:multiLvl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2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2</c:v>
                </c:pt>
                <c:pt idx="16">
                  <c:v>7</c:v>
                </c:pt>
                <c:pt idx="17">
                  <c:v>5</c:v>
                </c:pt>
                <c:pt idx="18">
                  <c:v>5</c:v>
                </c:pt>
                <c:pt idx="19">
                  <c:v>2</c:v>
                </c:pt>
                <c:pt idx="20">
                  <c:v>4</c:v>
                </c:pt>
                <c:pt idx="21">
                  <c:v>1</c:v>
                </c:pt>
                <c:pt idx="22">
                  <c:v>3</c:v>
                </c:pt>
                <c:pt idx="23">
                  <c:v>5</c:v>
                </c:pt>
                <c:pt idx="24">
                  <c:v>26</c:v>
                </c:pt>
                <c:pt idx="25">
                  <c:v>14</c:v>
                </c:pt>
                <c:pt idx="26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2D2D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Authors per Submission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3A4B"/>
              </a:solidFill>
              <a:effectLst/>
            </c:spPr>
          </c:dPt>
          <c:dPt>
            <c:idx val="1"/>
            <c:bubble3D val="0"/>
            <c:spPr>
              <a:solidFill>
                <a:srgbClr val="2C5F2D"/>
              </a:solidFill>
              <a:effectLst/>
            </c:spPr>
          </c:dPt>
          <c:dPt>
            <c:idx val="2"/>
            <c:bubble3D val="0"/>
            <c:spPr>
              <a:solidFill>
                <a:srgbClr val="4CAF50"/>
              </a:solidFill>
              <a:effectLst/>
            </c:spPr>
          </c:dPt>
          <c:dPt>
            <c:idx val="3"/>
            <c:bubble3D val="0"/>
            <c:spPr>
              <a:solidFill>
                <a:srgbClr val="81C784"/>
              </a:solidFill>
              <a:effectLst/>
            </c:spPr>
          </c:dPt>
          <c:dPt>
            <c:idx val="4"/>
            <c:bubble3D val="0"/>
            <c:spPr>
              <a:solidFill>
                <a:srgbClr val="C8E6C9"/>
              </a:solidFill>
              <a:effectLst/>
            </c:spPr>
          </c:dPt>
          <c:dPt>
            <c:idx val="5"/>
            <c:bubble3D val="0"/>
            <c:spPr>
              <a:solidFill>
                <a:srgbClr val="E8F5E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1 author</c:v>
                </c:pt>
                <c:pt idx="1">
                  <c:v>2 authors</c:v>
                </c:pt>
                <c:pt idx="2">
                  <c:v>3 authors</c:v>
                </c:pt>
                <c:pt idx="3">
                  <c:v>4 authors</c:v>
                </c:pt>
                <c:pt idx="4">
                  <c:v>5 authors</c:v>
                </c:pt>
                <c:pt idx="5">
                  <c:v>6 authors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21</c:v>
                </c:pt>
                <c:pt idx="1">
                  <c:v>30</c:v>
                </c:pt>
                <c:pt idx="2">
                  <c:v>22</c:v>
                </c:pt>
                <c:pt idx="3">
                  <c:v>14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Submissions per Author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3A4B"/>
              </a:solidFill>
              <a:effectLst/>
            </c:spPr>
          </c:dPt>
          <c:dPt>
            <c:idx val="1"/>
            <c:bubble3D val="0"/>
            <c:spPr>
              <a:solidFill>
                <a:srgbClr val="2C5F2D"/>
              </a:solidFill>
              <a:effectLst/>
            </c:spPr>
          </c:dPt>
          <c:dPt>
            <c:idx val="2"/>
            <c:bubble3D val="0"/>
            <c:spPr>
              <a:solidFill>
                <a:srgbClr val="4CAF50"/>
              </a:solidFill>
              <a:effectLst/>
            </c:spPr>
          </c:dPt>
          <c:dPt>
            <c:idx val="3"/>
            <c:bubble3D val="0"/>
            <c:spPr>
              <a:solidFill>
                <a:srgbClr val="81C78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1 submission</c:v>
                </c:pt>
                <c:pt idx="1">
                  <c:v>2 submissions</c:v>
                </c:pt>
                <c:pt idx="2">
                  <c:v>3 submissions</c:v>
                </c:pt>
                <c:pt idx="3">
                  <c:v>4 submissions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178</c:v>
                </c:pt>
                <c:pt idx="1">
                  <c:v>20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6D5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CALDAM 2026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12th International Conference on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and Discrete Applied Mathematics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1828800" cy="36576"/>
          </a:xfrm>
          <a:prstGeom prst="rect">
            <a:avLst/>
          </a:prstGeom>
          <a:solidFill>
            <a:srgbClr val="006D5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Dharwad, Karnataka, India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663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12 – 14, 2026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5669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Neeldhara Misra</a:t>
            </a:r>
            <a:pPr algn="l" indent="0" marL="0">
              <a:buNone/>
            </a:pPr>
            <a:r>
              <a:rPr lang="en-US" sz="16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(PC Co-Chair)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6126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6D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neeldhara.misra@iitgn.ac.in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CALDAM 2026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6D5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CALDAM 2026 (the 12th International Conference on Algorithms and Discrete Applied Mathematics) is being held from February 12–14, 2026, at the Indian Institute of Technology Dharwad, Karnataka, India.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conference is organised by the Department of Mathematics, Indian Institute of Technology Dharwad, in association with the Association for Computer Science and Discrete Mathematics (ACSDM), India.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572000"/>
            <a:ext cx="23774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572000"/>
            <a:ext cx="2377440" cy="54864"/>
          </a:xfrm>
          <a:prstGeom prst="rect">
            <a:avLst/>
          </a:prstGeom>
          <a:solidFill>
            <a:srgbClr val="006D5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754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51206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Block, IIT Dharwad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83280" y="4572000"/>
            <a:ext cx="23774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4572000"/>
            <a:ext cx="2377440" cy="54864"/>
          </a:xfrm>
          <a:prstGeom prst="rect">
            <a:avLst/>
          </a:prstGeom>
          <a:solidFill>
            <a:srgbClr val="006D5B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4754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51206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12–14, 2026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4572000"/>
            <a:ext cx="23774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4572000"/>
            <a:ext cx="2377440" cy="54864"/>
          </a:xfrm>
          <a:prstGeom prst="rect">
            <a:avLst/>
          </a:prstGeom>
          <a:solidFill>
            <a:srgbClr val="006D5B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4754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Pre-Conference School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72200" y="51206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9–10, 2026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Program Committee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6D5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committee consisted of 30 highly experienced and active researchers from 11 countries.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3200400" cy="1828800"/>
          </a:xfrm>
          <a:prstGeom prst="rect">
            <a:avLst>
              <a:gd name="adj" fmla="val 5000"/>
            </a:avLst>
          </a:prstGeom>
          <a:solidFill>
            <a:srgbClr val="1B3A4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6517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Members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89120" y="2560320"/>
            <a:ext cx="4023360" cy="1828800"/>
          </a:xfrm>
          <a:prstGeom prst="rect">
            <a:avLst>
              <a:gd name="adj" fmla="val 5000"/>
            </a:avLst>
          </a:prstGeom>
          <a:solidFill>
            <a:srgbClr val="1B3A4B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26517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389120" y="35661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7548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(17), Australia (3), Canada (2), Austria (1), Czechia (1), France (1), Germany (1), Hungary (1), Netherlands (1), Poland (1), Slovenia (1)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Steering Committee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6D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63040"/>
            <a:ext cx="54864" cy="685800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63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Kumar Ghosh (Chair)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75564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Ramakrishna Mission Vivekananda Educational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Research Institute, India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54864" cy="685800"/>
          </a:xfrm>
          <a:prstGeom prst="rect">
            <a:avLst/>
          </a:prstGeom>
          <a:solidFill>
            <a:srgbClr val="006D5B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331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Gyula O. H. Katona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62432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Alfréd Rényi Institute of Mathematics,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Hungarian Academy of Sciences, Hungary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54864" cy="685800"/>
          </a:xfrm>
          <a:prstGeom prst="rect">
            <a:avLst/>
          </a:prstGeom>
          <a:solidFill>
            <a:srgbClr val="006D5B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200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János Pach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349300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Alfred Rényi Institute of Mathematics, Hungary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069080"/>
            <a:ext cx="54864" cy="685800"/>
          </a:xfrm>
          <a:prstGeom prst="rect">
            <a:avLst/>
          </a:prstGeom>
          <a:solidFill>
            <a:srgbClr val="006D5B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069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Nicola Santoro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436168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Science,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Carleton University, Canada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937760"/>
            <a:ext cx="54864" cy="685800"/>
          </a:xfrm>
          <a:prstGeom prst="rect">
            <a:avLst/>
          </a:prstGeom>
          <a:solidFill>
            <a:srgbClr val="006D5B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Swami Sarvattomananda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5840" y="52303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Ramakrishna Mission Vivekananda Educational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Research Institute, India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5806440"/>
            <a:ext cx="54864" cy="685800"/>
          </a:xfrm>
          <a:prstGeom prst="rect">
            <a:avLst/>
          </a:prstGeom>
          <a:solidFill>
            <a:srgbClr val="006D5B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5806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Chee Yap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05840" y="609904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Courant Institute of Mathematical Sciences,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University, USA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Submission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6D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554480"/>
            <a:ext cx="24688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373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D32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74720" y="1554480"/>
            <a:ext cx="24688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7373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474720" y="2834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24688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7373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38%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217920" y="2834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Rate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7680960" cy="5486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480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31520" y="5029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Reviews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4480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474720" y="5029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Reviewers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4480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217920" y="5029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Reviews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5669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papers received 3 reviews each, 7 papers received 2 reviews, and 5 papers received 4 reviews.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6D5B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Submissions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Acceptance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 Members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Reviewers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Reviews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Submissions by Country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6D5B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822960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62179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Fractional counts reflect papers with authors from multiple countries.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Acceptance Rate by Country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6D5B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Brazil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Austria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Australia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Israel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Russia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Submissions by Date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6D5B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274320" y="1371600"/>
          <a:ext cx="85953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6035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26 submissions on September 29 (deadline effect)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 Statistics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6D5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Per Submission</a:t>
            </a:r>
            <a:endParaRPr lang="en-US" sz="1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828800"/>
          <a:ext cx="43891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1371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 Per Author</a:t>
            </a:r>
            <a:endParaRPr lang="en-US" sz="18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4572000" y="1828800"/>
          <a:ext cx="43891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6D5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Invited Speakers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371600" cy="36576"/>
          </a:xfrm>
          <a:prstGeom prst="rect">
            <a:avLst/>
          </a:prstGeom>
          <a:solidFill>
            <a:srgbClr val="006D5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28800"/>
            <a:ext cx="7680960" cy="2011680"/>
          </a:xfrm>
          <a:prstGeom prst="rect">
            <a:avLst>
              <a:gd name="adj" fmla="val 4545"/>
            </a:avLst>
          </a:prstGeom>
          <a:solidFill>
            <a:srgbClr val="1E4D5E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1031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Sandip Das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26517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Computing and Microelectronics Unit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Statistical Institute, Kolkata, India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4206240"/>
            <a:ext cx="7680960" cy="2011680"/>
          </a:xfrm>
          <a:prstGeom prst="rect">
            <a:avLst>
              <a:gd name="adj" fmla="val 4545"/>
            </a:avLst>
          </a:prstGeom>
          <a:solidFill>
            <a:srgbClr val="1E4D5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44805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Géza Tóth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7280" y="5029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Alfréd Rényi Institute of Mathematics, Hungary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Research Topics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6D5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research themes across accepted papers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182880" cy="182880"/>
          </a:xfrm>
          <a:prstGeom prst="ellipse">
            <a:avLst/>
          </a:prstGeom>
          <a:solidFill>
            <a:srgbClr val="006D5B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Disk Graphs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542032"/>
            <a:ext cx="182880" cy="182880"/>
          </a:xfrm>
          <a:prstGeom prst="ellipse">
            <a:avLst/>
          </a:prstGeom>
          <a:solidFill>
            <a:srgbClr val="006D5B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2450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Matching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072384"/>
            <a:ext cx="182880" cy="182880"/>
          </a:xfrm>
          <a:prstGeom prst="ellipse">
            <a:avLst/>
          </a:prstGeom>
          <a:solidFill>
            <a:srgbClr val="006D5B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29809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Cartesian Product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3602736"/>
            <a:ext cx="182880" cy="182880"/>
          </a:xfrm>
          <a:prstGeom prst="ellipse">
            <a:avLst/>
          </a:prstGeom>
          <a:solidFill>
            <a:srgbClr val="006D5B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35112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Circulant Graphs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4133088"/>
            <a:ext cx="182880" cy="182880"/>
          </a:xfrm>
          <a:prstGeom prst="ellipse">
            <a:avLst/>
          </a:prstGeom>
          <a:solidFill>
            <a:srgbClr val="006D5B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40416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Area-Universal Layout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4663440"/>
            <a:ext cx="182880" cy="182880"/>
          </a:xfrm>
          <a:prstGeom prst="ellipse">
            <a:avLst/>
          </a:prstGeom>
          <a:solidFill>
            <a:srgbClr val="006D5B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4572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Dominating Set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5193792"/>
            <a:ext cx="182880" cy="182880"/>
          </a:xfrm>
          <a:prstGeom prst="ellipse">
            <a:avLst/>
          </a:prstGeom>
          <a:solidFill>
            <a:srgbClr val="006D5B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51023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Weakly Modular Graphs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400" y="5724144"/>
            <a:ext cx="182880" cy="182880"/>
          </a:xfrm>
          <a:prstGeom prst="ellipse">
            <a:avLst/>
          </a:prstGeom>
          <a:solidFill>
            <a:srgbClr val="006D5B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160" y="56327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k-Median Problem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0" y="2011680"/>
            <a:ext cx="182880" cy="182880"/>
          </a:xfrm>
          <a:prstGeom prst="ellipse">
            <a:avLst/>
          </a:prstGeom>
          <a:solidFill>
            <a:srgbClr val="006D5B"/>
          </a:solidFill>
          <a:ln/>
        </p:spPr>
      </p:sp>
      <p:sp>
        <p:nvSpPr>
          <p:cNvPr id="22" name="Text 20"/>
          <p:cNvSpPr/>
          <p:nvPr/>
        </p:nvSpPr>
        <p:spPr>
          <a:xfrm>
            <a:off x="539496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Representable Split Graphs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0" y="2542032"/>
            <a:ext cx="182880" cy="182880"/>
          </a:xfrm>
          <a:prstGeom prst="ellipse">
            <a:avLst/>
          </a:prstGeom>
          <a:solidFill>
            <a:srgbClr val="006D5B"/>
          </a:solidFill>
          <a:ln/>
        </p:spPr>
      </p:sp>
      <p:sp>
        <p:nvSpPr>
          <p:cNvPr id="24" name="Text 22"/>
          <p:cNvSpPr/>
          <p:nvPr/>
        </p:nvSpPr>
        <p:spPr>
          <a:xfrm>
            <a:off x="5394960" y="2450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 Model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0" y="3072384"/>
            <a:ext cx="182880" cy="182880"/>
          </a:xfrm>
          <a:prstGeom prst="ellipse">
            <a:avLst/>
          </a:prstGeom>
          <a:solidFill>
            <a:srgbClr val="006D5B"/>
          </a:solidFill>
          <a:ln/>
        </p:spPr>
      </p:sp>
      <p:sp>
        <p:nvSpPr>
          <p:cNvPr id="26" name="Text 24"/>
          <p:cNvSpPr/>
          <p:nvPr/>
        </p:nvSpPr>
        <p:spPr>
          <a:xfrm>
            <a:off x="5394960" y="29809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Complexity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029200" y="3602736"/>
            <a:ext cx="182880" cy="182880"/>
          </a:xfrm>
          <a:prstGeom prst="ellipse">
            <a:avLst/>
          </a:prstGeom>
          <a:solidFill>
            <a:srgbClr val="006D5B"/>
          </a:solidFill>
          <a:ln/>
        </p:spPr>
      </p:sp>
      <p:sp>
        <p:nvSpPr>
          <p:cNvPr id="28" name="Text 26"/>
          <p:cNvSpPr/>
          <p:nvPr/>
        </p:nvSpPr>
        <p:spPr>
          <a:xfrm>
            <a:off x="5394960" y="35112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Domination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29200" y="4133088"/>
            <a:ext cx="182880" cy="182880"/>
          </a:xfrm>
          <a:prstGeom prst="ellipse">
            <a:avLst/>
          </a:prstGeom>
          <a:solidFill>
            <a:srgbClr val="006D5B"/>
          </a:solidFill>
          <a:ln/>
        </p:spPr>
      </p:sp>
      <p:sp>
        <p:nvSpPr>
          <p:cNvPr id="30" name="Text 28"/>
          <p:cNvSpPr/>
          <p:nvPr/>
        </p:nvSpPr>
        <p:spPr>
          <a:xfrm>
            <a:off x="5394960" y="40416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Robber Locating Game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029200" y="4663440"/>
            <a:ext cx="182880" cy="182880"/>
          </a:xfrm>
          <a:prstGeom prst="ellipse">
            <a:avLst/>
          </a:prstGeom>
          <a:solidFill>
            <a:srgbClr val="006D5B"/>
          </a:solidFill>
          <a:ln/>
        </p:spPr>
      </p:sp>
      <p:sp>
        <p:nvSpPr>
          <p:cNvPr id="32" name="Text 30"/>
          <p:cNvSpPr/>
          <p:nvPr/>
        </p:nvSpPr>
        <p:spPr>
          <a:xfrm>
            <a:off x="5394960" y="4572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Achromatic Number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029200" y="5193792"/>
            <a:ext cx="182880" cy="182880"/>
          </a:xfrm>
          <a:prstGeom prst="ellipse">
            <a:avLst/>
          </a:prstGeom>
          <a:solidFill>
            <a:srgbClr val="006D5B"/>
          </a:solidFill>
          <a:ln/>
        </p:spPr>
      </p:sp>
      <p:sp>
        <p:nvSpPr>
          <p:cNvPr id="34" name="Text 32"/>
          <p:cNvSpPr/>
          <p:nvPr/>
        </p:nvSpPr>
        <p:spPr>
          <a:xfrm>
            <a:off x="5394960" y="51023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Coloring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029200" y="5724144"/>
            <a:ext cx="182880" cy="182880"/>
          </a:xfrm>
          <a:prstGeom prst="ellipse">
            <a:avLst/>
          </a:prstGeom>
          <a:solidFill>
            <a:srgbClr val="006D5B"/>
          </a:solidFill>
          <a:ln/>
        </p:spPr>
      </p:sp>
      <p:sp>
        <p:nvSpPr>
          <p:cNvPr id="36" name="Text 34"/>
          <p:cNvSpPr/>
          <p:nvPr/>
        </p:nvSpPr>
        <p:spPr>
          <a:xfrm>
            <a:off x="5394960" y="56327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Geometry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Pre-Conference School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6D5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Indo-Polish Pre-Conference School on Algorithms and Combinatorics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9–10, 2026 | IIT Dharwad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0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Co-Convenors: Sagnik Sen (IIT Dharwad) &amp; Monika Pilśniak (AGH University, Poland)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474720"/>
            <a:ext cx="54864" cy="457200"/>
          </a:xfrm>
          <a:prstGeom prst="rect">
            <a:avLst/>
          </a:prstGeom>
          <a:solidFill>
            <a:srgbClr val="006D5B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474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Andrzej Grzesik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730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Jagiellonian University, Krakow, Poland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4114800"/>
            <a:ext cx="54864" cy="457200"/>
          </a:xfrm>
          <a:prstGeom prst="rect">
            <a:avLst/>
          </a:prstGeom>
          <a:solidFill>
            <a:srgbClr val="006D5B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114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Aniket Basu Roy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43708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Pilani Goa, India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754880"/>
            <a:ext cx="54864" cy="457200"/>
          </a:xfrm>
          <a:prstGeom prst="rect">
            <a:avLst/>
          </a:prstGeom>
          <a:solidFill>
            <a:srgbClr val="006D5B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Monika Pilśniak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5010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AGH University, Poland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5394960"/>
            <a:ext cx="54864" cy="457200"/>
          </a:xfrm>
          <a:prstGeom prst="rect">
            <a:avLst/>
          </a:prstGeom>
          <a:solidFill>
            <a:srgbClr val="006D5B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5394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Paweł Rzążewski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56509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Warsaw University of Technology, Poland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6035040"/>
            <a:ext cx="54864" cy="457200"/>
          </a:xfrm>
          <a:prstGeom prst="rect">
            <a:avLst/>
          </a:prstGeom>
          <a:solidFill>
            <a:srgbClr val="006D5B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Rafał Kalinowski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AGH University, Krakow, Poland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64008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the Young Researchers' Forum (YRF 2026) — 3rd in the series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Acknowledgements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6D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63040"/>
            <a:ext cx="23774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2377440" cy="54864"/>
          </a:xfrm>
          <a:prstGeom prst="rect">
            <a:avLst/>
          </a:prstGeom>
          <a:solidFill>
            <a:srgbClr val="006D5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37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6D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2011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thank the authors of all submissions for considering CALDAM 2026 for potential presentation of their works.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23774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463040"/>
            <a:ext cx="2377440" cy="54864"/>
          </a:xfrm>
          <a:prstGeom prst="rect">
            <a:avLst/>
          </a:prstGeom>
          <a:solidFill>
            <a:srgbClr val="006D5B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737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6D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66160" y="2286000"/>
            <a:ext cx="2011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very much indebted to the program committee members and the external reviewers for providing thorough reviews within a very short period of time.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463040"/>
            <a:ext cx="23774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463040"/>
            <a:ext cx="2377440" cy="54864"/>
          </a:xfrm>
          <a:prstGeom prst="rect">
            <a:avLst/>
          </a:prstGeom>
          <a:solidFill>
            <a:srgbClr val="006D5B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737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6D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17920" y="2286000"/>
            <a:ext cx="2011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thank Springer for publishing the proceedings in the Lecture Notes in Computer Science series and for its support for the best student presentation awards.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Acknowledgements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6D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63040"/>
            <a:ext cx="23774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2377440" cy="54864"/>
          </a:xfrm>
          <a:prstGeom prst="rect">
            <a:avLst/>
          </a:prstGeom>
          <a:solidFill>
            <a:srgbClr val="006D5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37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6D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Invited Speakers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2011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sincerest thanks to the invited speakers, Sandip Das and Géza Tóth, for accepting our invitation to give a talk.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23774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463040"/>
            <a:ext cx="2377440" cy="54864"/>
          </a:xfrm>
          <a:prstGeom prst="rect">
            <a:avLst/>
          </a:prstGeom>
          <a:solidFill>
            <a:srgbClr val="006D5B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737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6D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Organizing Committee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66160" y="2286000"/>
            <a:ext cx="2011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thank the organizing committee chaired by Sagnik Sen of IIT Dharwad for the smooth conduct of CALDAM 2026.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463040"/>
            <a:ext cx="23774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463040"/>
            <a:ext cx="2377440" cy="54864"/>
          </a:xfrm>
          <a:prstGeom prst="rect">
            <a:avLst/>
          </a:prstGeom>
          <a:solidFill>
            <a:srgbClr val="006D5B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737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6D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Host Institution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17920" y="2286000"/>
            <a:ext cx="2011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grateful to the Indian Institute of Technology Dharwad for providing the necessary facilities.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057400" y="5029200"/>
            <a:ext cx="23774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57400" y="5029200"/>
            <a:ext cx="2377440" cy="54864"/>
          </a:xfrm>
          <a:prstGeom prst="rect">
            <a:avLst/>
          </a:prstGeom>
          <a:solidFill>
            <a:srgbClr val="006D5B"/>
          </a:solidFill>
          <a:ln/>
        </p:spPr>
      </p:sp>
      <p:sp>
        <p:nvSpPr>
          <p:cNvPr id="18" name="Text 16"/>
          <p:cNvSpPr/>
          <p:nvPr/>
        </p:nvSpPr>
        <p:spPr>
          <a:xfrm>
            <a:off x="2240280" y="5212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6D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Steering Committee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240280" y="55778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very grateful to the chair of the steering committee, Subir Kumar Ghosh, for his active help, support, and guidance throughout.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83480" y="5029200"/>
            <a:ext cx="23774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83480" y="5029200"/>
            <a:ext cx="2377440" cy="54864"/>
          </a:xfrm>
          <a:prstGeom prst="rect">
            <a:avLst/>
          </a:prstGeom>
          <a:solidFill>
            <a:srgbClr val="006D5B"/>
          </a:solidFill>
          <a:ln/>
        </p:spPr>
      </p:sp>
      <p:sp>
        <p:nvSpPr>
          <p:cNvPr id="22" name="Text 20"/>
          <p:cNvSpPr/>
          <p:nvPr/>
        </p:nvSpPr>
        <p:spPr>
          <a:xfrm>
            <a:off x="5166360" y="5212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6D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EasyChair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66360" y="55778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thank the EasyChair conference management system.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CALDAM 2026 Business Meeting</dc:title>
  <dc:subject>PptxGenJS Presentation</dc:subject>
  <dc:creator>Neeldhara Misra</dc:creator>
  <cp:lastModifiedBy>Neeldhara Misra</cp:lastModifiedBy>
  <cp:revision>1</cp:revision>
  <dcterms:created xsi:type="dcterms:W3CDTF">2026-02-12T10:38:23Z</dcterms:created>
  <dcterms:modified xsi:type="dcterms:W3CDTF">2026-02-12T10:38:23Z</dcterms:modified>
</cp:coreProperties>
</file>